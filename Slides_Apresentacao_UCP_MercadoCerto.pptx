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Estimativa de Esforço por Use Case Points</a:t>
            </a:r>
          </a:p>
          <a:p>
            <a:pPr algn="ctr"/>
            <a:r>
              <a:rPr sz="2600" b="1" i="0">
                <a:solidFill>
                  <a:srgbClr val="BDD7EE"/>
                </a:solidFill>
                <a:latin typeface="Calibri"/>
              </a:rPr>
              <a:t>Projeto MercadoCerto</a:t>
            </a:r>
          </a:p>
          <a:p>
            <a:pPr algn="ctr"/>
            <a:r>
              <a:rPr sz="1600" b="0" i="1">
                <a:solidFill>
                  <a:srgbClr val="DEEBF7"/>
                </a:solidFill>
                <a:latin typeface="Calibri"/>
              </a:rPr>
              <a:t>Gestão de Projetos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David Souza  ·  Lucas Michels  ·  Matheus Boller  ·  Pedro Karatchuk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BDD7EE"/>
                </a:solidFill>
                <a:latin typeface="Calibri"/>
              </a:rPr>
              <a:t>1   </a:t>
            </a:r>
            <a:r>
              <a:rPr sz="2800" b="1" i="0">
                <a:solidFill>
                  <a:srgbClr val="FFFFFF"/>
                </a:solidFill>
                <a:latin typeface="Calibri"/>
              </a:rPr>
              <a:t>O que é UCP e por que usamos</a:t>
            </a:r>
          </a:p>
          <a:p>
            <a:r>
              <a:rPr sz="1200" b="0" i="1">
                <a:solidFill>
                  <a:srgbClr val="DEEBF7"/>
                </a:solidFill>
                <a:latin typeface="Calibri"/>
              </a:rPr>
              <a:t>David  ·  ~1,5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262626"/>
                </a:solidFill>
                <a:latin typeface="Calibri"/>
              </a:rPr>
              <a:t>•  Use Case Points (UCP): técnica de estimativa baseada nos casos de uso.</a:t>
            </a:r>
          </a:p>
          <a:p>
            <a:pPr lvl="1">
              <a:spcAft>
                <a:spcPts val="10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–  Mede o tamanho funcional do sistema com critérios objetivos.</a:t>
            </a:r>
          </a:p>
          <a:p>
            <a:pPr lvl="1">
              <a:spcAft>
                <a:spcPts val="10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–  Considera: nº de atores, complexidade dos casos de uso e fatores técnicos/ambiente.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262626"/>
                </a:solidFill>
                <a:latin typeface="Calibri"/>
              </a:rPr>
              <a:t>•  Vantagem: estimar com base em evidência, não “no chute”.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262626"/>
                </a:solidFill>
                <a:latin typeface="Calibri"/>
              </a:rPr>
              <a:t>•  Fluxo da técnica:</a:t>
            </a:r>
          </a:p>
          <a:p>
            <a:pPr lvl="1">
              <a:spcAft>
                <a:spcPts val="10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–  Contar casos de uso  →  calcular UCP  →  converter em esforço (horas)  →  estimar prazo e custo.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MercadoCerto · Gestão de Projetos · UCP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BDD7EE"/>
                </a:solidFill>
                <a:latin typeface="Calibri"/>
              </a:rPr>
              <a:t>2   </a:t>
            </a:r>
            <a:r>
              <a:rPr sz="2800" b="1" i="0">
                <a:solidFill>
                  <a:srgbClr val="FFFFFF"/>
                </a:solidFill>
                <a:latin typeface="Calibri"/>
              </a:rPr>
              <a:t>Os 14 Casos de Uso levantados</a:t>
            </a:r>
          </a:p>
          <a:p>
            <a:r>
              <a:rPr sz="1200" b="0" i="1">
                <a:solidFill>
                  <a:srgbClr val="DEEBF7"/>
                </a:solidFill>
                <a:latin typeface="Calibri"/>
              </a:rPr>
              <a:t>Lucas  ·  ~2,5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95959"/>
                </a:solidFill>
                <a:latin typeface="Calibri"/>
              </a:rPr>
              <a:t>Cada caso classificado por complexidade conforme fluxos alternativos e de exceção: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7315200"/>
              </a:tblGrid>
              <a:tr h="5943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Complexidade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Qtd.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Exemplos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Simples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Fazer login, Avaliar mercado, Publicar preço, Consultar histórico, Consultar ranking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Médio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Cadastrar conta, Comparar preços, Gerenciar lista, Cadastrar mercado/produto, Painel do comércio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Complexo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Otimizar lista de compras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4E79"/>
                </a:solidFill>
                <a:latin typeface="Calibri"/>
              </a:rPr>
              <a:t>Destaque: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“Otimizar lista de compras” é o único caso complexo — calcula a melhor combinação de preços entre mercados, o coração do diferencial.</a:t>
            </a:r>
          </a:p>
          <a:p>
            <a:r>
              <a:rPr sz="1500" b="0" i="0">
                <a:solidFill>
                  <a:srgbClr val="595959"/>
                </a:solidFill>
                <a:latin typeface="Calibri"/>
              </a:rPr>
              <a:t>Todos os casos têm um único ator: Person (usuário/comércio) — 14 atores no total.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MercadoCerto · Gestão de Projetos · UCP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BDD7EE"/>
                </a:solidFill>
                <a:latin typeface="Calibri"/>
              </a:rPr>
              <a:t>3   </a:t>
            </a:r>
            <a:r>
              <a:rPr sz="2800" b="1" i="0">
                <a:solidFill>
                  <a:srgbClr val="FFFFFF"/>
                </a:solidFill>
                <a:latin typeface="Calibri"/>
              </a:rPr>
              <a:t>Do tamanho ao número (UCP)</a:t>
            </a:r>
          </a:p>
          <a:p>
            <a:r>
              <a:rPr sz="1200" b="0" i="1">
                <a:solidFill>
                  <a:srgbClr val="DEEBF7"/>
                </a:solidFill>
                <a:latin typeface="Calibri"/>
              </a:rPr>
              <a:t>Matheus  ·  ~2,5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262626"/>
                </a:solidFill>
                <a:latin typeface="Calibri"/>
              </a:rPr>
              <a:t>•  UUCP (não ajustado) = 162</a:t>
            </a:r>
          </a:p>
          <a:p>
            <a:pPr lvl="1">
              <a:spcAft>
                <a:spcPts val="10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–  Atores: 14 × 3 = 42</a:t>
            </a:r>
          </a:p>
          <a:p>
            <a:pPr lvl="1">
              <a:spcAft>
                <a:spcPts val="10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–  Casos: (5×5) + (8×10) + (1×15) = 120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262626"/>
                </a:solidFill>
                <a:latin typeface="Calibri"/>
              </a:rPr>
              <a:t>•  TCF — Fator de Complexidade Técnica = 0,945  (13 fatores avaliados)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262626"/>
                </a:solidFill>
                <a:latin typeface="Calibri"/>
              </a:rPr>
              <a:t>•  EF — Fator de Ambiente/Equipe = 0,95  (8 fatores avaliados)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663440"/>
            <a:ext cx="8138160" cy="1280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UCP = 162 × 0,945 × 0,95  ≈  145,4 pontos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MercadoCerto · Gestão de Projetos · UCP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BDD7EE"/>
                </a:solidFill>
                <a:latin typeface="Calibri"/>
              </a:rPr>
              <a:t>4   </a:t>
            </a:r>
            <a:r>
              <a:rPr sz="2800" b="1" i="0">
                <a:solidFill>
                  <a:srgbClr val="FFFFFF"/>
                </a:solidFill>
                <a:latin typeface="Calibri"/>
              </a:rPr>
              <a:t>Esforço, prazo e custo</a:t>
            </a:r>
          </a:p>
          <a:p>
            <a:r>
              <a:rPr sz="1200" b="0" i="1">
                <a:solidFill>
                  <a:srgbClr val="DEEBF7"/>
                </a:solidFill>
                <a:latin typeface="Calibri"/>
              </a:rPr>
              <a:t>Pedro  ·  ~2,5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383280" cy="173736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 i="0">
                <a:solidFill>
                  <a:srgbClr val="1F4E79"/>
                </a:solidFill>
                <a:latin typeface="Calibri"/>
              </a:rPr>
              <a:t>~1.213</a:t>
            </a:r>
          </a:p>
          <a:p>
            <a:pPr algn="ctr"/>
            <a:r>
              <a:rPr sz="1800" b="1" i="0">
                <a:solidFill>
                  <a:srgbClr val="2E74B5"/>
                </a:solidFill>
                <a:latin typeface="Calibri"/>
              </a:rPr>
              <a:t>homem-hora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esforço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554480"/>
            <a:ext cx="3383280" cy="173736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 i="0">
                <a:solidFill>
                  <a:srgbClr val="1F4E79"/>
                </a:solidFill>
                <a:latin typeface="Calibri"/>
              </a:rPr>
              <a:t>~8,1</a:t>
            </a:r>
          </a:p>
          <a:p>
            <a:pPr algn="ctr"/>
            <a:r>
              <a:rPr sz="1800" b="1" i="0">
                <a:solidFill>
                  <a:srgbClr val="2E74B5"/>
                </a:solidFill>
                <a:latin typeface="Calibri"/>
              </a:rPr>
              <a:t>homem-mês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equipe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554480"/>
            <a:ext cx="3383280" cy="173736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 i="0">
                <a:solidFill>
                  <a:srgbClr val="1F4E79"/>
                </a:solidFill>
                <a:latin typeface="Calibri"/>
              </a:rPr>
              <a:t>~3,9</a:t>
            </a:r>
          </a:p>
          <a:p>
            <a:pPr algn="ctr"/>
            <a:r>
              <a:rPr sz="1800" b="1" i="0">
                <a:solidFill>
                  <a:srgbClr val="2E74B5"/>
                </a:solidFill>
                <a:latin typeface="Calibri"/>
              </a:rPr>
              <a:t>meses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time to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4E79"/>
                </a:solidFill>
                <a:latin typeface="Calibri"/>
              </a:rPr>
              <a:t>Distribuição do esforço por fase (homem-mês):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62626"/>
                </a:solidFill>
                <a:latin typeface="Calibri"/>
              </a:rPr>
              <a:t>Build (codificação)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114800"/>
            <a:ext cx="6858000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0412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Calibri"/>
              </a:rPr>
              <a:t>4.06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988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62626"/>
                </a:solidFill>
                <a:latin typeface="Calibri"/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498848"/>
            <a:ext cx="3817507" cy="2926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3627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Calibri"/>
              </a:rPr>
              <a:t>2.26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828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62626"/>
                </a:solidFill>
                <a:latin typeface="Calibri"/>
              </a:rPr>
              <a:t>Requirement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882896"/>
            <a:ext cx="1638487" cy="2926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4607" y="48828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Calibri"/>
              </a:rPr>
              <a:t>0.97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66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62626"/>
                </a:solidFill>
                <a:latin typeface="Calibri"/>
              </a:rPr>
              <a:t>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5266944"/>
            <a:ext cx="760123" cy="2926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6243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Calibri"/>
              </a:rPr>
              <a:t>0.45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509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62626"/>
                </a:solidFill>
                <a:latin typeface="Calibri"/>
              </a:rPr>
              <a:t>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5650992"/>
            <a:ext cx="760123" cy="2926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6243" y="5650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Calibri"/>
              </a:rPr>
              <a:t>0.45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62626"/>
                </a:solidFill>
                <a:latin typeface="Calibri"/>
              </a:rPr>
              <a:t>Outras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6035040"/>
            <a:ext cx="1689162" cy="2926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5282" y="6035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Calibri"/>
              </a:rPr>
              <a:t>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MercadoCerto · Gestão de Projetos · UCP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14 casos de uso  →  145 UCP</a:t>
            </a:r>
          </a:p>
          <a:p>
            <a:pPr algn="ctr">
              <a:spcAft>
                <a:spcPts val="1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≈ 8 homem-mês de esforço</a:t>
            </a:r>
          </a:p>
          <a:p>
            <a:pPr algn="ctr">
              <a:spcAft>
                <a:spcPts val="1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Prazo de ≈ 4 meses</a:t>
            </a:r>
          </a:p>
          <a:p>
            <a:pPr algn="ctr">
              <a:spcAft>
                <a:spcPts val="1400"/>
              </a:spcAft>
            </a:pPr>
            <a:r>
              <a:rPr sz="2200" b="0" i="0">
                <a:solidFill>
                  <a:srgbClr val="DEEBF7"/>
                </a:solidFill>
                <a:latin typeface="Calibri"/>
              </a:rPr>
              <a:t>Base objetiva e defensável para planejar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BDD7EE"/>
                </a:solidFill>
                <a:latin typeface="Calibri"/>
              </a:rPr>
              <a:t>Obrigado!  Estamos abertos a perguntas.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BDD7EE"/>
                </a:solidFill>
                <a:latin typeface="Calibri"/>
              </a:rPr>
              <a:t>Anexo   </a:t>
            </a:r>
            <a:r>
              <a:rPr sz="2800" b="1" i="0">
                <a:solidFill>
                  <a:srgbClr val="FFFFFF"/>
                </a:solidFill>
                <a:latin typeface="Calibri"/>
              </a:rPr>
              <a:t>Tabela completa dos 14 casos de uso</a:t>
            </a:r>
          </a:p>
          <a:p>
            <a:r>
              <a:rPr sz="1200" b="0" i="1">
                <a:solidFill>
                  <a:srgbClr val="DEEBF7"/>
                </a:solidFill>
                <a:latin typeface="Calibri"/>
              </a:rPr>
              <a:t>(slide de backup)  · 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029200"/>
                <a:gridCol w="1188720"/>
                <a:gridCol w="1188720"/>
                <a:gridCol w="1188720"/>
                <a:gridCol w="1920240"/>
              </a:tblGrid>
              <a:tr h="34137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Caso de uso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Alt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Complexidade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Cadastrar conta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Fazer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Recuperar senha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Comparar preços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Consultar histórico de preços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simple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Visualizar mercados no mapa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Avaliar mercado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simple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Consultar ranking de 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Gerenciar lista de compras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Calibri"/>
                        </a:rPr>
                        <a:t>Otimizar lista de compras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Calibri"/>
                        </a:rPr>
                        <a:t>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Cadastrar mercado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Cadastrar produto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Publicar preço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simple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Acompanhar painel do comércio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